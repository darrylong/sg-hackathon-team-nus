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82" d="100"/>
          <a:sy n="82"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8884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The task has two parts. First, put four labels on every ticket: category, priority, assigned team and sentiment. Second, decide which tickets a person should handle instead, with at most 15% of a batch going to people. Every model reads channel, product, subject and body as one text. Category is TF-IDF plus logistic regression. Priority is an ordinal model. Team is a gradient-boosted stacker that learns product exceptions, for example switch firmware going to Network-Support. Sentiment uses gradient-boosted trees. All probabilities are temperature-calibrated. A separate correctness model predicts how likely the chosen team is right. That feeds a cost rule, explained on the next slide. Why it matters: in the pack's cost matrix, a misrouted P1 costs 8, while handing a P1 to a person costs 1. The human triage desk can take at most 15% of tickets. So the job is to spend that limited desk time on the tickets where a wrong route would hurt most. Method: 30,000 labelled tickets, split 70/15/15 into TRAIN, VAL and TEST. Every model choice was made on VAL with a pre-written rule: paired bootstrap, the 95% interval must exclude zero. TEST was scored once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For each ticket we compare two expected costs, using the cost matrix from the pack. The misroute cost is the chance the team is wrong, one minus p_correct, times the misroute cost weighted by the predicted priority. The hand-off cost is the priority-weighted cost of sending it to a person. If handing off is cheaper, it goes to a person. In a batch, the tickets with the largest savings go first, up to 15%. Two guards always force a hand-off: a product the model never saw, and an empty or very short body. The screenshot is the app. An Alletra 6010 outage on a payments cluster: the model is 96% sure it's Storage-Support, so the expected misroute cost, 0.21, is below the hand-off cost, 0.79, and it routes, as P1. Every decision comes with this reason string, so an agent can see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These are TEST numbers, scored once after everything was locked on VAL. Routing everything costs 0.170 per ticket. Handing off the 15% least-confident tickets brings that to 0.135. Our expected-cost rule gets slightly lower, 0.133, while handing off only 9.7% of tickets instead of 15%. That's about a third fewer tickets landing on people for the same or better cost, and 22% lower cost than routing everything. On the labels: team macro-F1 is 0.90. P1 recall is 0.84, because we label a ticket P1 whenever the calibrated P1 probability is at least 0.225. Missing a P1 is the expensive mistake, so we trade some precision for recall. On the eval file, 691 of 6,000 tickets, 11.5%, are handed off, under the 900-ticket cap.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This slide puts the TEST results in business terms, per 10,000 tickets. Cost: routing everything costs 0.170 per ticket; our rule costs 0.133. Over 10,000 tickets that's 1,700 cost units down to 1,331, a saving of 369. In the pack's cost matrix one unit is the cost of handing a P1 to a person, and a misrouted P1 costs 8, so the saving equals about 46 misrouted P1 outages. People: the rule hands off 9.7% of tickets, so the triage desk sees about 970 per 10,000. Handing off the least-confident 15% would send 1,500, for a higher cost. That's 530 tickets of desk time freed, and headroom under the 15% cap for a surge. Critical outages: on VAL, 81% of true P1 tickets are labelled P1, up from 53% for a plain TF-IDF baseline. On TEST it's 84%. Recommendation: deploy it as the first-line router, with the human desk taking the tickets the rule hands off. Every decision carries its reason string, so agents can see and challenge it. No LLM is involved and nothing leaves the network.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The pack's 15 curveball tickets test edge cases. The screenshot is the app's batch tab scoring them: 2 of 15 go to a person. What holds: character n-grams carry the Malay ticket (server won't boot) and the German one (packet loss on the core switch) to the right teams, with no translation. The two-word "it broke" ticket is caught by the short-body guard. What misses: the server-room aircon failure is a facilities problem, a category the model never saw, and it gets routed to Server-HW. About 195 eval tickets look like this and only about 29 are handed off. The payments outage across 140 stores came out P2 rather than P1. And the sarcastic "Wow, what an achievement" complaint is read as Neutral. Next steps, in order, each tied to a risk it removes: a facilities guard for room power and cooling, since about 165 such eval tickets currently go to IT teams that cannot fix them; a guard for tickets with no real content, like "same thing as before"; and refitting the final models on all 30,000 rows instead of 21,000, which is 43% more training data at no extra cost.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7460"/>
            <a:ext cx="10566401" cy="670560"/>
          </a:xfrm>
          <a:prstGeom prst="rect">
            <a:avLst/>
          </a:prstGeom>
          <a:noFill/>
          <a:ln/>
        </p:spPr>
        <p:txBody>
          <a:bodyPr wrap="square" lIns="0" tIns="0" rIns="0" bIns="0" rtlCol="0" anchor="t"/>
          <a:lstStyle>
            <a:lvl1pPr marL="0" indent="0" algn="l">
              <a:lnSpc>
                <a:spcPct val="115000"/>
              </a:lnSpc>
              <a:buNone/>
              <a:defRPr lang="en-US" sz="3200" dirty="0">
                <a:solidFill>
                  <a:srgbClr val="13202E"/>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242820"/>
            <a:ext cx="10566400" cy="3802380"/>
          </a:xfrm>
          <a:prstGeom prst="rect">
            <a:avLst/>
          </a:prstGeom>
          <a:noFill/>
          <a:ln/>
        </p:spPr>
        <p:txBody>
          <a:bodyPr wrap="square" lIns="0" tIns="0" rIns="0" bIns="0" rtlCol="0" anchor="t"/>
          <a:lstStyle>
            <a:lvl1pPr marL="0" indent="0" algn="l">
              <a:lnSpc>
                <a:spcPct val="140000"/>
              </a:lnSpc>
              <a:buNone/>
              <a:defRPr lang="en-US" sz="1600" dirty="0">
                <a:solidFill>
                  <a:srgbClr val="13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75F"/>
                </a:solidFill>
                <a:latin typeface="IBM Plex Sans" pitchFamily="34" charset="0"/>
                <a:ea typeface="IBM Plex Sans" pitchFamily="34" charset="-122"/>
                <a:cs typeface="IBM Plex Sans" pitchFamily="34" charset="-120"/>
              </a:rPr>
              <a:t>PROBLEM 03 · TICKET TRIAGE</a:t>
            </a:r>
            <a:endParaRPr lang="en-US" sz="1200" dirty="0"/>
          </a:p>
        </p:txBody>
      </p:sp>
      <p:sp>
        <p:nvSpPr>
          <p:cNvPr id="3" name="Text 1"/>
          <p:cNvSpPr>
            <a:spLocks noGrp="1"/>
          </p:cNvSpPr>
          <p:nvPr>
            <p:ph type="title"/>
          </p:nvPr>
        </p:nvSpPr>
        <p:spPr>
          <a:xfrm>
            <a:off x="812800" y="1330960"/>
            <a:ext cx="10883393"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E"/>
                </a:solidFill>
                <a:latin typeface="Space Grotesk" pitchFamily="34" charset="0"/>
                <a:ea typeface="Space Grotesk" pitchFamily="34" charset="-122"/>
                <a:cs typeface="Space Grotesk" pitchFamily="34" charset="-120"/>
              </a:rPr>
              <a:t>Label every ticket, then decide whether a person should handle it</a:t>
            </a:r>
            <a:endParaRPr lang="en-US" sz="3200" dirty="0"/>
          </a:p>
        </p:txBody>
      </p:sp>
      <p:sp>
        <p:nvSpPr>
          <p:cNvPr id="4" name="Shape 2"/>
          <p:cNvSpPr/>
          <p:nvPr/>
        </p:nvSpPr>
        <p:spPr>
          <a:xfrm>
            <a:off x="815975" y="2533015"/>
            <a:ext cx="1784456" cy="1370330"/>
          </a:xfrm>
          <a:prstGeom prst="roundRect">
            <a:avLst>
              <a:gd name="adj" fmla="val 7183"/>
            </a:avLst>
          </a:prstGeom>
          <a:solidFill>
            <a:srgbClr val="FDFCFA"/>
          </a:solidFill>
          <a:ln w="6350">
            <a:solidFill>
              <a:srgbClr val="DDDAD2"/>
            </a:solidFill>
            <a:prstDash val="solid"/>
          </a:ln>
        </p:spPr>
        <p:txBody>
          <a:bodyPr/>
          <a:lstStyle/>
          <a:p>
            <a:endParaRPr lang="en-SG"/>
          </a:p>
        </p:txBody>
      </p:sp>
      <p:sp>
        <p:nvSpPr>
          <p:cNvPr id="5" name="Text 3"/>
          <p:cNvSpPr/>
          <p:nvPr/>
        </p:nvSpPr>
        <p:spPr>
          <a:xfrm>
            <a:off x="971973" y="2714413"/>
            <a:ext cx="15232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Ticket</a:t>
            </a:r>
            <a:endParaRPr lang="en-US" sz="1500" dirty="0"/>
          </a:p>
        </p:txBody>
      </p:sp>
      <p:sp>
        <p:nvSpPr>
          <p:cNvPr id="6" name="Text 4"/>
          <p:cNvSpPr/>
          <p:nvPr/>
        </p:nvSpPr>
        <p:spPr>
          <a:xfrm>
            <a:off x="971973" y="3019214"/>
            <a:ext cx="152325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Channel, product, subject and body, read as one text</a:t>
            </a:r>
            <a:endParaRPr lang="en-US" sz="1200" dirty="0"/>
          </a:p>
        </p:txBody>
      </p:sp>
      <p:pic>
        <p:nvPicPr>
          <p:cNvPr id="7" name="Image 0" descr="arrow-right"/>
          <p:cNvPicPr>
            <a:picLocks noChangeAspect="1"/>
          </p:cNvPicPr>
          <p:nvPr/>
        </p:nvPicPr>
        <p:blipFill>
          <a:blip r:embed="rId3"/>
          <a:srcRect/>
          <a:stretch/>
        </p:blipFill>
        <p:spPr>
          <a:xfrm>
            <a:off x="2679806" y="3141980"/>
            <a:ext cx="254000" cy="152400"/>
          </a:xfrm>
          <a:prstGeom prst="rect">
            <a:avLst/>
          </a:prstGeom>
        </p:spPr>
      </p:pic>
      <p:sp>
        <p:nvSpPr>
          <p:cNvPr id="8" name="Shape 5"/>
          <p:cNvSpPr/>
          <p:nvPr/>
        </p:nvSpPr>
        <p:spPr>
          <a:xfrm>
            <a:off x="3013181" y="2533015"/>
            <a:ext cx="1784562" cy="1370330"/>
          </a:xfrm>
          <a:prstGeom prst="roundRect">
            <a:avLst>
              <a:gd name="adj" fmla="val 7183"/>
            </a:avLst>
          </a:prstGeom>
          <a:solidFill>
            <a:srgbClr val="FDFCFA"/>
          </a:solidFill>
          <a:ln w="6350">
            <a:solidFill>
              <a:srgbClr val="DDDAD2"/>
            </a:solidFill>
            <a:prstDash val="solid"/>
          </a:ln>
        </p:spPr>
        <p:txBody>
          <a:bodyPr/>
          <a:lstStyle/>
          <a:p>
            <a:endParaRPr lang="en-SG"/>
          </a:p>
        </p:txBody>
      </p:sp>
      <p:sp>
        <p:nvSpPr>
          <p:cNvPr id="9" name="Text 6"/>
          <p:cNvSpPr/>
          <p:nvPr/>
        </p:nvSpPr>
        <p:spPr>
          <a:xfrm>
            <a:off x="3169179" y="2714413"/>
            <a:ext cx="1523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Four models</a:t>
            </a:r>
            <a:endParaRPr lang="en-US" sz="1500" dirty="0"/>
          </a:p>
        </p:txBody>
      </p:sp>
      <p:sp>
        <p:nvSpPr>
          <p:cNvPr id="10" name="Text 7"/>
          <p:cNvSpPr/>
          <p:nvPr/>
        </p:nvSpPr>
        <p:spPr>
          <a:xfrm>
            <a:off x="3169179" y="3019214"/>
            <a:ext cx="15233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Category, priority, team and sentiment, each calibrated</a:t>
            </a:r>
            <a:endParaRPr lang="en-US" sz="1200" dirty="0"/>
          </a:p>
        </p:txBody>
      </p:sp>
      <p:pic>
        <p:nvPicPr>
          <p:cNvPr id="11" name="Image 1" descr="arrow-right"/>
          <p:cNvPicPr>
            <a:picLocks noChangeAspect="1"/>
          </p:cNvPicPr>
          <p:nvPr/>
        </p:nvPicPr>
        <p:blipFill>
          <a:blip r:embed="rId3"/>
          <a:srcRect/>
          <a:stretch/>
        </p:blipFill>
        <p:spPr>
          <a:xfrm>
            <a:off x="4877118" y="3141980"/>
            <a:ext cx="254000" cy="152400"/>
          </a:xfrm>
          <a:prstGeom prst="rect">
            <a:avLst/>
          </a:prstGeom>
        </p:spPr>
      </p:pic>
      <p:sp>
        <p:nvSpPr>
          <p:cNvPr id="12" name="Shape 8"/>
          <p:cNvSpPr/>
          <p:nvPr/>
        </p:nvSpPr>
        <p:spPr>
          <a:xfrm>
            <a:off x="5210493" y="2533015"/>
            <a:ext cx="1784456" cy="1370330"/>
          </a:xfrm>
          <a:prstGeom prst="roundRect">
            <a:avLst>
              <a:gd name="adj" fmla="val 7183"/>
            </a:avLst>
          </a:prstGeom>
          <a:solidFill>
            <a:srgbClr val="FDFCFA"/>
          </a:solidFill>
          <a:ln w="6350">
            <a:solidFill>
              <a:srgbClr val="DDDAD2"/>
            </a:solidFill>
            <a:prstDash val="solid"/>
          </a:ln>
        </p:spPr>
        <p:txBody>
          <a:bodyPr/>
          <a:lstStyle/>
          <a:p>
            <a:endParaRPr lang="en-SG"/>
          </a:p>
        </p:txBody>
      </p:sp>
      <p:sp>
        <p:nvSpPr>
          <p:cNvPr id="13" name="Text 9"/>
          <p:cNvSpPr/>
          <p:nvPr/>
        </p:nvSpPr>
        <p:spPr>
          <a:xfrm>
            <a:off x="5366491" y="2714413"/>
            <a:ext cx="15232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Correctness</a:t>
            </a:r>
            <a:endParaRPr lang="en-US" sz="1500" dirty="0"/>
          </a:p>
        </p:txBody>
      </p:sp>
      <p:sp>
        <p:nvSpPr>
          <p:cNvPr id="14" name="Text 10"/>
          <p:cNvSpPr/>
          <p:nvPr/>
        </p:nvSpPr>
        <p:spPr>
          <a:xfrm>
            <a:off x="5366491" y="3019214"/>
            <a:ext cx="152325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p_correct: how likely the chosen team is right</a:t>
            </a:r>
            <a:endParaRPr lang="en-US" sz="1200" dirty="0"/>
          </a:p>
        </p:txBody>
      </p:sp>
      <p:pic>
        <p:nvPicPr>
          <p:cNvPr id="15" name="Image 2" descr="arrow-right"/>
          <p:cNvPicPr>
            <a:picLocks noChangeAspect="1"/>
          </p:cNvPicPr>
          <p:nvPr/>
        </p:nvPicPr>
        <p:blipFill>
          <a:blip r:embed="rId3"/>
          <a:srcRect/>
          <a:stretch/>
        </p:blipFill>
        <p:spPr>
          <a:xfrm>
            <a:off x="7074324" y="3141980"/>
            <a:ext cx="254000" cy="152400"/>
          </a:xfrm>
          <a:prstGeom prst="rect">
            <a:avLst/>
          </a:prstGeom>
        </p:spPr>
      </p:pic>
      <p:sp>
        <p:nvSpPr>
          <p:cNvPr id="16" name="Shape 11"/>
          <p:cNvSpPr/>
          <p:nvPr/>
        </p:nvSpPr>
        <p:spPr>
          <a:xfrm>
            <a:off x="7407699" y="2533015"/>
            <a:ext cx="1784562" cy="1370330"/>
          </a:xfrm>
          <a:prstGeom prst="roundRect">
            <a:avLst>
              <a:gd name="adj" fmla="val 7183"/>
            </a:avLst>
          </a:prstGeom>
          <a:solidFill>
            <a:srgbClr val="FDFCFA"/>
          </a:solidFill>
          <a:ln w="6350">
            <a:solidFill>
              <a:srgbClr val="DDDAD2"/>
            </a:solidFill>
            <a:prstDash val="solid"/>
          </a:ln>
        </p:spPr>
        <p:txBody>
          <a:bodyPr/>
          <a:lstStyle/>
          <a:p>
            <a:endParaRPr lang="en-SG"/>
          </a:p>
        </p:txBody>
      </p:sp>
      <p:sp>
        <p:nvSpPr>
          <p:cNvPr id="17" name="Text 12"/>
          <p:cNvSpPr/>
          <p:nvPr/>
        </p:nvSpPr>
        <p:spPr>
          <a:xfrm>
            <a:off x="7563697" y="2714413"/>
            <a:ext cx="1523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02E"/>
                </a:solidFill>
                <a:latin typeface="Space Grotesk" pitchFamily="34" charset="0"/>
                <a:ea typeface="Space Grotesk" pitchFamily="34" charset="-122"/>
                <a:cs typeface="Space Grotesk" pitchFamily="34" charset="-120"/>
              </a:rPr>
              <a:t>Cost rule</a:t>
            </a:r>
            <a:endParaRPr lang="en-US" sz="1500" dirty="0"/>
          </a:p>
        </p:txBody>
      </p:sp>
      <p:sp>
        <p:nvSpPr>
          <p:cNvPr id="18" name="Text 13"/>
          <p:cNvSpPr/>
          <p:nvPr/>
        </p:nvSpPr>
        <p:spPr>
          <a:xfrm>
            <a:off x="7563697" y="3019214"/>
            <a:ext cx="15233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Expected misroute cost vs hand-off cost</a:t>
            </a:r>
            <a:endParaRPr lang="en-US" sz="1200" dirty="0"/>
          </a:p>
        </p:txBody>
      </p:sp>
      <p:pic>
        <p:nvPicPr>
          <p:cNvPr id="19" name="Image 3" descr="arrow-right"/>
          <p:cNvPicPr>
            <a:picLocks noChangeAspect="1"/>
          </p:cNvPicPr>
          <p:nvPr/>
        </p:nvPicPr>
        <p:blipFill>
          <a:blip r:embed="rId3"/>
          <a:srcRect/>
          <a:stretch/>
        </p:blipFill>
        <p:spPr>
          <a:xfrm>
            <a:off x="9271636" y="3141980"/>
            <a:ext cx="254000" cy="152400"/>
          </a:xfrm>
          <a:prstGeom prst="rect">
            <a:avLst/>
          </a:prstGeom>
        </p:spPr>
      </p:pic>
      <p:sp>
        <p:nvSpPr>
          <p:cNvPr id="20" name="Shape 14"/>
          <p:cNvSpPr/>
          <p:nvPr/>
        </p:nvSpPr>
        <p:spPr>
          <a:xfrm>
            <a:off x="9601836" y="2529840"/>
            <a:ext cx="1777365" cy="1376680"/>
          </a:xfrm>
          <a:prstGeom prst="roundRect">
            <a:avLst>
              <a:gd name="adj" fmla="val 7380"/>
            </a:avLst>
          </a:prstGeom>
          <a:solidFill>
            <a:srgbClr val="13202E"/>
          </a:solidFill>
          <a:ln/>
        </p:spPr>
        <p:txBody>
          <a:bodyPr/>
          <a:lstStyle/>
          <a:p>
            <a:endParaRPr lang="en-SG"/>
          </a:p>
        </p:txBody>
      </p:sp>
      <p:sp>
        <p:nvSpPr>
          <p:cNvPr id="21" name="Text 15"/>
          <p:cNvSpPr/>
          <p:nvPr/>
        </p:nvSpPr>
        <p:spPr>
          <a:xfrm>
            <a:off x="9754236" y="2707640"/>
            <a:ext cx="1523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5F1"/>
                </a:solidFill>
                <a:latin typeface="Space Grotesk" pitchFamily="34" charset="0"/>
                <a:ea typeface="Space Grotesk" pitchFamily="34" charset="-122"/>
                <a:cs typeface="Space Grotesk" pitchFamily="34" charset="-120"/>
              </a:rPr>
              <a:t>Decision</a:t>
            </a:r>
            <a:endParaRPr lang="en-US" sz="1500" dirty="0"/>
          </a:p>
        </p:txBody>
      </p:sp>
      <p:sp>
        <p:nvSpPr>
          <p:cNvPr id="22" name="Text 16"/>
          <p:cNvSpPr/>
          <p:nvPr/>
        </p:nvSpPr>
        <p:spPr>
          <a:xfrm>
            <a:off x="9754236" y="3012440"/>
            <a:ext cx="15233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B0"/>
                </a:solidFill>
                <a:latin typeface="IBM Plex Sans" pitchFamily="34" charset="0"/>
                <a:ea typeface="IBM Plex Sans" pitchFamily="34" charset="-122"/>
                <a:cs typeface="IBM Plex Sans" pitchFamily="34" charset="-120"/>
              </a:rPr>
              <a:t>Route to a team</a:t>
            </a:r>
            <a:endParaRPr lang="en-US" sz="1200" dirty="0"/>
          </a:p>
        </p:txBody>
      </p:sp>
      <p:sp>
        <p:nvSpPr>
          <p:cNvPr id="23" name="Text 17"/>
          <p:cNvSpPr/>
          <p:nvPr/>
        </p:nvSpPr>
        <p:spPr>
          <a:xfrm>
            <a:off x="9754236" y="3302000"/>
            <a:ext cx="15233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B971"/>
                </a:solidFill>
                <a:latin typeface="IBM Plex Sans" pitchFamily="34" charset="0"/>
                <a:ea typeface="IBM Plex Sans" pitchFamily="34" charset="-122"/>
                <a:cs typeface="IBM Plex Sans" pitchFamily="34" charset="-120"/>
              </a:rPr>
              <a:t>or send to a human, at most 15%</a:t>
            </a:r>
            <a:endParaRPr lang="en-US" sz="1200" dirty="0"/>
          </a:p>
        </p:txBody>
      </p:sp>
      <p:sp>
        <p:nvSpPr>
          <p:cNvPr id="24" name="Shape 18"/>
          <p:cNvSpPr/>
          <p:nvPr/>
        </p:nvSpPr>
        <p:spPr>
          <a:xfrm>
            <a:off x="812800" y="4795097"/>
            <a:ext cx="10566401" cy="0"/>
          </a:xfrm>
          <a:prstGeom prst="line">
            <a:avLst/>
          </a:prstGeom>
          <a:noFill/>
          <a:ln w="12700">
            <a:solidFill>
              <a:srgbClr val="DDDAD2"/>
            </a:solidFill>
            <a:prstDash val="solid"/>
          </a:ln>
        </p:spPr>
        <p:txBody>
          <a:bodyPr/>
          <a:lstStyle/>
          <a:p>
            <a:endParaRPr lang="en-SG"/>
          </a:p>
        </p:txBody>
      </p:sp>
      <p:sp>
        <p:nvSpPr>
          <p:cNvPr id="25" name="Text 19"/>
          <p:cNvSpPr/>
          <p:nvPr/>
        </p:nvSpPr>
        <p:spPr>
          <a:xfrm>
            <a:off x="812800" y="4998720"/>
            <a:ext cx="341850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3202E"/>
                </a:solidFill>
                <a:latin typeface="Space Grotesk" pitchFamily="34" charset="0"/>
                <a:ea typeface="Space Grotesk" pitchFamily="34" charset="-122"/>
                <a:cs typeface="Space Grotesk" pitchFamily="34" charset="-120"/>
              </a:rPr>
              <a:t>8×</a:t>
            </a:r>
            <a:endParaRPr lang="en-US" sz="2200" dirty="0"/>
          </a:p>
        </p:txBody>
      </p:sp>
      <p:sp>
        <p:nvSpPr>
          <p:cNvPr id="26" name="Text 20"/>
          <p:cNvSpPr/>
          <p:nvPr/>
        </p:nvSpPr>
        <p:spPr>
          <a:xfrm>
            <a:off x="812800" y="5415280"/>
            <a:ext cx="341850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a misrouted P1 outage costs 8 times handing it to a person</a:t>
            </a:r>
            <a:endParaRPr lang="en-US" sz="1200" dirty="0"/>
          </a:p>
        </p:txBody>
      </p:sp>
      <p:sp>
        <p:nvSpPr>
          <p:cNvPr id="27" name="Text 21"/>
          <p:cNvSpPr/>
          <p:nvPr/>
        </p:nvSpPr>
        <p:spPr>
          <a:xfrm>
            <a:off x="4436533" y="4998720"/>
            <a:ext cx="341850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3202E"/>
                </a:solidFill>
                <a:latin typeface="Space Grotesk" pitchFamily="34" charset="0"/>
                <a:ea typeface="Space Grotesk" pitchFamily="34" charset="-122"/>
                <a:cs typeface="Space Grotesk" pitchFamily="34" charset="-120"/>
              </a:rPr>
              <a:t>15%</a:t>
            </a:r>
            <a:endParaRPr lang="en-US" sz="2200" dirty="0"/>
          </a:p>
        </p:txBody>
      </p:sp>
      <p:sp>
        <p:nvSpPr>
          <p:cNvPr id="28" name="Text 22"/>
          <p:cNvSpPr/>
          <p:nvPr/>
        </p:nvSpPr>
        <p:spPr>
          <a:xfrm>
            <a:off x="4436533" y="5415280"/>
            <a:ext cx="34185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most the human triage desk can take on</a:t>
            </a:r>
            <a:endParaRPr lang="en-US" sz="1200" dirty="0"/>
          </a:p>
        </p:txBody>
      </p:sp>
      <p:sp>
        <p:nvSpPr>
          <p:cNvPr id="29" name="Text 23"/>
          <p:cNvSpPr/>
          <p:nvPr/>
        </p:nvSpPr>
        <p:spPr>
          <a:xfrm>
            <a:off x="8060267" y="4998720"/>
            <a:ext cx="341850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3202E"/>
                </a:solidFill>
                <a:latin typeface="Space Grotesk" pitchFamily="34" charset="0"/>
                <a:ea typeface="Space Grotesk" pitchFamily="34" charset="-122"/>
                <a:cs typeface="Space Grotesk" pitchFamily="34" charset="-120"/>
              </a:rPr>
              <a:t>Every ticket</a:t>
            </a:r>
            <a:endParaRPr lang="en-US" sz="2200" dirty="0"/>
          </a:p>
        </p:txBody>
      </p:sp>
      <p:sp>
        <p:nvSpPr>
          <p:cNvPr id="30" name="Text 24"/>
          <p:cNvSpPr/>
          <p:nvPr/>
        </p:nvSpPr>
        <p:spPr>
          <a:xfrm>
            <a:off x="8060267" y="5415280"/>
            <a:ext cx="34185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gets a team or a person, with the reason why</a:t>
            </a:r>
            <a:endParaRPr lang="en-US" sz="1200" dirty="0"/>
          </a:p>
        </p:txBody>
      </p:sp>
      <p:sp>
        <p:nvSpPr>
          <p:cNvPr id="31" name="Text 25"/>
          <p:cNvSpPr/>
          <p:nvPr/>
        </p:nvSpPr>
        <p:spPr>
          <a:xfrm>
            <a:off x="812800" y="6238240"/>
            <a:ext cx="10883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pitchFamily="34" charset="0"/>
                <a:ea typeface="IBM Plex Sans" pitchFamily="34" charset="-122"/>
                <a:cs typeface="IBM Plex Sans" pitchFamily="34" charset="-120"/>
              </a:rPr>
              <a:t>03 Ticket Triage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1"/>
            <a:ext cx="108833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75F"/>
                </a:solidFill>
                <a:latin typeface="IBM Plex Sans" pitchFamily="34" charset="0"/>
                <a:ea typeface="IBM Plex Sans" pitchFamily="34" charset="-122"/>
                <a:cs typeface="IBM Plex Sans" pitchFamily="34" charset="-120"/>
              </a:rPr>
              <a:t>WHEN TO HAND OFF</a:t>
            </a:r>
            <a:endParaRPr lang="en-US" sz="1200" dirty="0"/>
          </a:p>
        </p:txBody>
      </p:sp>
      <p:sp>
        <p:nvSpPr>
          <p:cNvPr id="3" name="Text 1"/>
          <p:cNvSpPr>
            <a:spLocks noGrp="1"/>
          </p:cNvSpPr>
          <p:nvPr>
            <p:ph type="title"/>
          </p:nvPr>
        </p:nvSpPr>
        <p:spPr>
          <a:xfrm>
            <a:off x="812800" y="1203961"/>
            <a:ext cx="10883393"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E"/>
                </a:solidFill>
                <a:latin typeface="Space Grotesk" pitchFamily="34" charset="0"/>
                <a:ea typeface="Space Grotesk" pitchFamily="34" charset="-122"/>
                <a:cs typeface="Space Grotesk" pitchFamily="34" charset="-120"/>
              </a:rPr>
              <a:t>A person takes the ticket only when a misroute would cost more</a:t>
            </a:r>
            <a:endParaRPr lang="en-US" sz="3200" dirty="0"/>
          </a:p>
        </p:txBody>
      </p:sp>
      <p:sp>
        <p:nvSpPr>
          <p:cNvPr id="4" name="Shape 2"/>
          <p:cNvSpPr/>
          <p:nvPr/>
        </p:nvSpPr>
        <p:spPr>
          <a:xfrm>
            <a:off x="815975" y="2279015"/>
            <a:ext cx="6127539" cy="1526117"/>
          </a:xfrm>
          <a:prstGeom prst="roundRect">
            <a:avLst>
              <a:gd name="adj" fmla="val 6449"/>
            </a:avLst>
          </a:prstGeom>
          <a:solidFill>
            <a:srgbClr val="FDFCFA"/>
          </a:solidFill>
          <a:ln w="6350">
            <a:solidFill>
              <a:srgbClr val="DDDAD2"/>
            </a:solidFill>
            <a:prstDash val="solid"/>
          </a:ln>
        </p:spPr>
        <p:txBody>
          <a:bodyPr/>
          <a:lstStyle/>
          <a:p>
            <a:endParaRPr lang="en-SG"/>
          </a:p>
        </p:txBody>
      </p:sp>
      <p:sp>
        <p:nvSpPr>
          <p:cNvPr id="5" name="Text 3"/>
          <p:cNvSpPr/>
          <p:nvPr/>
        </p:nvSpPr>
        <p:spPr>
          <a:xfrm>
            <a:off x="1022773" y="2485814"/>
            <a:ext cx="58853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E"/>
                </a:solidFill>
                <a:latin typeface="Space Grotesk" pitchFamily="34" charset="0"/>
                <a:ea typeface="Space Grotesk" pitchFamily="34" charset="-122"/>
                <a:cs typeface="Space Grotesk" pitchFamily="34" charset="-120"/>
              </a:rPr>
              <a:t>Expected cost, per ticket</a:t>
            </a:r>
            <a:endParaRPr lang="en-US" sz="1600" dirty="0"/>
          </a:p>
        </p:txBody>
      </p:sp>
      <p:sp>
        <p:nvSpPr>
          <p:cNvPr id="6" name="Text 4"/>
          <p:cNvSpPr/>
          <p:nvPr/>
        </p:nvSpPr>
        <p:spPr>
          <a:xfrm>
            <a:off x="1022773" y="2805854"/>
            <a:ext cx="58853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3"/>
                </a:solidFill>
                <a:latin typeface="IBM Plex Sans" pitchFamily="34" charset="0"/>
                <a:ea typeface="IBM Plex Sans" pitchFamily="34" charset="-122"/>
                <a:cs typeface="IBM Plex Sans" pitchFamily="34" charset="-120"/>
              </a:rPr>
              <a:t>Misroute:</a:t>
            </a:r>
            <a:r>
              <a:rPr lang="en-US" sz="1200" dirty="0">
                <a:solidFill>
                  <a:srgbClr val="4A5563"/>
                </a:solidFill>
                <a:latin typeface="IBM Plex Sans" pitchFamily="34" charset="0"/>
                <a:ea typeface="IBM Plex Sans" pitchFamily="34" charset="-122"/>
                <a:cs typeface="IBM Plex Sans" pitchFamily="34" charset="-120"/>
              </a:rPr>
              <a:t> (1 − p_correct) × priority-weighted misroute cost</a:t>
            </a:r>
            <a:endParaRPr lang="en-US" sz="1200" dirty="0"/>
          </a:p>
        </p:txBody>
      </p:sp>
      <p:sp>
        <p:nvSpPr>
          <p:cNvPr id="7" name="Text 5"/>
          <p:cNvSpPr/>
          <p:nvPr/>
        </p:nvSpPr>
        <p:spPr>
          <a:xfrm>
            <a:off x="1022773" y="3095414"/>
            <a:ext cx="58853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3"/>
                </a:solidFill>
                <a:latin typeface="IBM Plex Sans" pitchFamily="34" charset="0"/>
                <a:ea typeface="IBM Plex Sans" pitchFamily="34" charset="-122"/>
                <a:cs typeface="IBM Plex Sans" pitchFamily="34" charset="-120"/>
              </a:rPr>
              <a:t>Hand-off:</a:t>
            </a:r>
            <a:r>
              <a:rPr lang="en-US" sz="1200" dirty="0">
                <a:solidFill>
                  <a:srgbClr val="4A5563"/>
                </a:solidFill>
                <a:latin typeface="IBM Plex Sans" pitchFamily="34" charset="0"/>
                <a:ea typeface="IBM Plex Sans" pitchFamily="34" charset="-122"/>
                <a:cs typeface="IBM Plex Sans" pitchFamily="34" charset="-120"/>
              </a:rPr>
              <a:t> priority-weighted hand-off cost</a:t>
            </a:r>
            <a:endParaRPr lang="en-US" sz="1200" dirty="0"/>
          </a:p>
        </p:txBody>
      </p:sp>
      <p:sp>
        <p:nvSpPr>
          <p:cNvPr id="8" name="Text 6"/>
          <p:cNvSpPr/>
          <p:nvPr/>
        </p:nvSpPr>
        <p:spPr>
          <a:xfrm>
            <a:off x="1022773" y="3384974"/>
            <a:ext cx="58853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In a batch, the biggest savings go to people first, up to the 15% cap.</a:t>
            </a:r>
            <a:endParaRPr lang="en-US" sz="1200" dirty="0"/>
          </a:p>
        </p:txBody>
      </p:sp>
      <p:sp>
        <p:nvSpPr>
          <p:cNvPr id="9" name="Shape 7"/>
          <p:cNvSpPr/>
          <p:nvPr/>
        </p:nvSpPr>
        <p:spPr>
          <a:xfrm>
            <a:off x="7153063" y="2279015"/>
            <a:ext cx="4222962" cy="1526117"/>
          </a:xfrm>
          <a:prstGeom prst="roundRect">
            <a:avLst>
              <a:gd name="adj" fmla="val 6449"/>
            </a:avLst>
          </a:prstGeom>
          <a:solidFill>
            <a:srgbClr val="FDFCFA"/>
          </a:solidFill>
          <a:ln w="6350">
            <a:solidFill>
              <a:srgbClr val="DDDAD2"/>
            </a:solidFill>
            <a:prstDash val="solid"/>
          </a:ln>
        </p:spPr>
        <p:txBody>
          <a:bodyPr/>
          <a:lstStyle/>
          <a:p>
            <a:endParaRPr lang="en-SG"/>
          </a:p>
        </p:txBody>
      </p:sp>
      <p:sp>
        <p:nvSpPr>
          <p:cNvPr id="10" name="Text 8"/>
          <p:cNvSpPr/>
          <p:nvPr/>
        </p:nvSpPr>
        <p:spPr>
          <a:xfrm>
            <a:off x="7359862" y="2485814"/>
            <a:ext cx="39236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02E"/>
                </a:solidFill>
                <a:latin typeface="Space Grotesk" pitchFamily="34" charset="0"/>
                <a:ea typeface="Space Grotesk" pitchFamily="34" charset="-122"/>
                <a:cs typeface="Space Grotesk" pitchFamily="34" charset="-120"/>
              </a:rPr>
              <a:t>Guards: always a person</a:t>
            </a:r>
            <a:endParaRPr lang="en-US" sz="1600" dirty="0"/>
          </a:p>
        </p:txBody>
      </p:sp>
      <p:sp>
        <p:nvSpPr>
          <p:cNvPr id="11" name="Text 9"/>
          <p:cNvSpPr/>
          <p:nvPr/>
        </p:nvSpPr>
        <p:spPr>
          <a:xfrm>
            <a:off x="7359862" y="2805854"/>
            <a:ext cx="3923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A product never seen in training</a:t>
            </a:r>
            <a:endParaRPr lang="en-US" sz="1200" dirty="0"/>
          </a:p>
        </p:txBody>
      </p:sp>
      <p:sp>
        <p:nvSpPr>
          <p:cNvPr id="12" name="Text 10"/>
          <p:cNvSpPr/>
          <p:nvPr/>
        </p:nvSpPr>
        <p:spPr>
          <a:xfrm>
            <a:off x="7359862" y="3095414"/>
            <a:ext cx="3923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An empty or very short body (under 20 characters)</a:t>
            </a:r>
            <a:endParaRPr lang="en-US" sz="1200" dirty="0"/>
          </a:p>
        </p:txBody>
      </p:sp>
      <p:sp>
        <p:nvSpPr>
          <p:cNvPr id="13" name="Shape 11"/>
          <p:cNvSpPr/>
          <p:nvPr/>
        </p:nvSpPr>
        <p:spPr>
          <a:xfrm>
            <a:off x="812800" y="3986107"/>
            <a:ext cx="10566401" cy="1727200"/>
          </a:xfrm>
          <a:prstGeom prst="roundRect">
            <a:avLst>
              <a:gd name="adj" fmla="val 5882"/>
            </a:avLst>
          </a:prstGeom>
          <a:solidFill>
            <a:srgbClr val="FDFCFA"/>
          </a:solidFill>
          <a:ln/>
        </p:spPr>
        <p:txBody>
          <a:bodyPr/>
          <a:lstStyle/>
          <a:p>
            <a:endParaRPr lang="en-SG"/>
          </a:p>
        </p:txBody>
      </p:sp>
      <p:pic>
        <p:nvPicPr>
          <p:cNvPr id="14" name="Image 0" descr="Triage app result for an Alletra 6010 outage: ROUTE to Storage-Support, P1, team confidence 96%, expected misroute cost 0.21 below hand-off cost 0.79"/>
          <p:cNvPicPr>
            <a:picLocks noChangeAspect="1"/>
          </p:cNvPicPr>
          <p:nvPr/>
        </p:nvPicPr>
        <p:blipFill>
          <a:blip r:embed="rId3"/>
          <a:stretch>
            <a:fillRect/>
          </a:stretch>
        </p:blipFill>
        <p:spPr>
          <a:xfrm>
            <a:off x="2048878" y="3992457"/>
            <a:ext cx="8094245" cy="1714500"/>
          </a:xfrm>
          <a:prstGeom prst="rect">
            <a:avLst/>
          </a:prstGeom>
        </p:spPr>
      </p:pic>
      <p:sp>
        <p:nvSpPr>
          <p:cNvPr id="15" name="Shape 12"/>
          <p:cNvSpPr/>
          <p:nvPr/>
        </p:nvSpPr>
        <p:spPr>
          <a:xfrm>
            <a:off x="815975" y="3989282"/>
            <a:ext cx="10560051" cy="1720850"/>
          </a:xfrm>
          <a:prstGeom prst="roundRect">
            <a:avLst>
              <a:gd name="adj" fmla="val 5720"/>
            </a:avLst>
          </a:prstGeom>
          <a:noFill/>
          <a:ln w="6350">
            <a:solidFill>
              <a:srgbClr val="DDDAD2"/>
            </a:solidFill>
            <a:prstDash val="solid"/>
          </a:ln>
        </p:spPr>
        <p:txBody>
          <a:bodyPr/>
          <a:lstStyle/>
          <a:p>
            <a:endParaRPr lang="en-SG"/>
          </a:p>
        </p:txBody>
      </p:sp>
      <p:sp>
        <p:nvSpPr>
          <p:cNvPr id="16" name="Text 13"/>
          <p:cNvSpPr/>
          <p:nvPr/>
        </p:nvSpPr>
        <p:spPr>
          <a:xfrm>
            <a:off x="812800" y="6238241"/>
            <a:ext cx="10883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pitchFamily="34" charset="0"/>
                <a:ea typeface="IBM Plex Sans" pitchFamily="34" charset="-122"/>
                <a:cs typeface="IBM Plex Sans" pitchFamily="34" charset="-120"/>
              </a:rPr>
              <a:t>03 Ticket Triage · 2 · Screenshot: the app's Single Ticket tab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FD1B0"/>
                </a:solidFill>
                <a:latin typeface="IBM Plex Sans" pitchFamily="34" charset="0"/>
                <a:ea typeface="IBM Plex Sans" pitchFamily="34" charset="-122"/>
                <a:cs typeface="IBM Plex Sans" pitchFamily="34" charset="-120"/>
              </a:rPr>
              <a:t>RESULTS ON THE LOCKED TEST SET · 4,500 TICKETS</a:t>
            </a:r>
            <a:endParaRPr lang="en-US" sz="1200" dirty="0"/>
          </a:p>
        </p:txBody>
      </p:sp>
      <p:sp>
        <p:nvSpPr>
          <p:cNvPr id="3" name="Text 1"/>
          <p:cNvSpPr>
            <a:spLocks noGrp="1"/>
          </p:cNvSpPr>
          <p:nvPr>
            <p:ph type="title"/>
          </p:nvPr>
        </p:nvSpPr>
        <p:spPr>
          <a:xfrm>
            <a:off x="812800" y="1280161"/>
            <a:ext cx="10883393"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5F1"/>
                </a:solidFill>
                <a:latin typeface="Space Grotesk" pitchFamily="34" charset="0"/>
                <a:ea typeface="Space Grotesk" pitchFamily="34" charset="-122"/>
                <a:cs typeface="Space Grotesk" pitchFamily="34" charset="-120"/>
              </a:rPr>
              <a:t>Lower routing cost than the 15% rule, with a third fewer hand-offs</a:t>
            </a:r>
            <a:endParaRPr lang="en-US" sz="3200" dirty="0"/>
          </a:p>
        </p:txBody>
      </p:sp>
      <p:sp>
        <p:nvSpPr>
          <p:cNvPr id="4" name="Text 2"/>
          <p:cNvSpPr/>
          <p:nvPr/>
        </p:nvSpPr>
        <p:spPr>
          <a:xfrm>
            <a:off x="812800" y="2428241"/>
            <a:ext cx="62788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1"/>
                </a:solidFill>
                <a:latin typeface="Space Grotesk" pitchFamily="34" charset="0"/>
                <a:ea typeface="Space Grotesk" pitchFamily="34" charset="-122"/>
                <a:cs typeface="Space Grotesk" pitchFamily="34" charset="-120"/>
              </a:rPr>
              <a:t>Routing cost per ticket (lower is better)</a:t>
            </a:r>
            <a:endParaRPr lang="en-US" sz="1600" dirty="0"/>
          </a:p>
        </p:txBody>
      </p:sp>
      <p:sp>
        <p:nvSpPr>
          <p:cNvPr id="5" name="Text 3"/>
          <p:cNvSpPr/>
          <p:nvPr/>
        </p:nvSpPr>
        <p:spPr>
          <a:xfrm>
            <a:off x="812800" y="2849880"/>
            <a:ext cx="62788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CF"/>
                </a:solidFill>
                <a:latin typeface="IBM Plex Sans" pitchFamily="34" charset="0"/>
                <a:ea typeface="IBM Plex Sans" pitchFamily="34" charset="-122"/>
                <a:cs typeface="IBM Plex Sans" pitchFamily="34" charset="-120"/>
              </a:rPr>
              <a:t>Route everything, no hand-offs</a:t>
            </a:r>
            <a:endParaRPr lang="en-US" sz="1300" dirty="0"/>
          </a:p>
        </p:txBody>
      </p:sp>
      <p:sp>
        <p:nvSpPr>
          <p:cNvPr id="6" name="Shape 4"/>
          <p:cNvSpPr/>
          <p:nvPr/>
        </p:nvSpPr>
        <p:spPr>
          <a:xfrm>
            <a:off x="812800" y="3131821"/>
            <a:ext cx="3302000" cy="254000"/>
          </a:xfrm>
          <a:prstGeom prst="roundRect">
            <a:avLst>
              <a:gd name="adj" fmla="val 10000"/>
            </a:avLst>
          </a:prstGeom>
          <a:solidFill>
            <a:srgbClr val="5B6B7B"/>
          </a:solidFill>
          <a:ln/>
        </p:spPr>
        <p:txBody>
          <a:bodyPr/>
          <a:lstStyle/>
          <a:p>
            <a:endParaRPr lang="en-SG"/>
          </a:p>
        </p:txBody>
      </p:sp>
      <p:sp>
        <p:nvSpPr>
          <p:cNvPr id="7" name="Text 5"/>
          <p:cNvSpPr/>
          <p:nvPr/>
        </p:nvSpPr>
        <p:spPr>
          <a:xfrm>
            <a:off x="4216400" y="3134361"/>
            <a:ext cx="70396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0.1700</a:t>
            </a:r>
            <a:endParaRPr lang="en-US" sz="1400" dirty="0"/>
          </a:p>
        </p:txBody>
      </p:sp>
      <p:sp>
        <p:nvSpPr>
          <p:cNvPr id="8" name="Text 6"/>
          <p:cNvSpPr/>
          <p:nvPr/>
        </p:nvSpPr>
        <p:spPr>
          <a:xfrm>
            <a:off x="812800" y="3563621"/>
            <a:ext cx="62788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CF"/>
                </a:solidFill>
                <a:latin typeface="IBM Plex Sans" pitchFamily="34" charset="0"/>
                <a:ea typeface="IBM Plex Sans" pitchFamily="34" charset="-122"/>
                <a:cs typeface="IBM Plex Sans" pitchFamily="34" charset="-120"/>
              </a:rPr>
              <a:t>Hand off the 15% least confident</a:t>
            </a:r>
            <a:endParaRPr lang="en-US" sz="1300" dirty="0"/>
          </a:p>
        </p:txBody>
      </p:sp>
      <p:sp>
        <p:nvSpPr>
          <p:cNvPr id="9" name="Shape 7"/>
          <p:cNvSpPr/>
          <p:nvPr/>
        </p:nvSpPr>
        <p:spPr>
          <a:xfrm>
            <a:off x="812800" y="3845561"/>
            <a:ext cx="2622550" cy="254000"/>
          </a:xfrm>
          <a:prstGeom prst="roundRect">
            <a:avLst>
              <a:gd name="adj" fmla="val 10000"/>
            </a:avLst>
          </a:prstGeom>
          <a:solidFill>
            <a:srgbClr val="5B6B7B"/>
          </a:solidFill>
          <a:ln/>
        </p:spPr>
        <p:txBody>
          <a:bodyPr/>
          <a:lstStyle/>
          <a:p>
            <a:endParaRPr lang="en-SG"/>
          </a:p>
        </p:txBody>
      </p:sp>
      <p:sp>
        <p:nvSpPr>
          <p:cNvPr id="10" name="Text 8"/>
          <p:cNvSpPr/>
          <p:nvPr/>
        </p:nvSpPr>
        <p:spPr>
          <a:xfrm>
            <a:off x="3536950" y="3848102"/>
            <a:ext cx="26465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0.1350 · 15.0% handed off</a:t>
            </a:r>
            <a:endParaRPr lang="en-US" sz="1400" dirty="0"/>
          </a:p>
        </p:txBody>
      </p:sp>
      <p:sp>
        <p:nvSpPr>
          <p:cNvPr id="11" name="Text 9"/>
          <p:cNvSpPr/>
          <p:nvPr/>
        </p:nvSpPr>
        <p:spPr>
          <a:xfrm>
            <a:off x="812800" y="4277361"/>
            <a:ext cx="627888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FD1B0"/>
                </a:solidFill>
                <a:latin typeface="IBM Plex Sans" pitchFamily="34" charset="0"/>
                <a:ea typeface="IBM Plex Sans" pitchFamily="34" charset="-122"/>
                <a:cs typeface="IBM Plex Sans" pitchFamily="34" charset="-120"/>
              </a:rPr>
              <a:t>Ours: expected-cost rule</a:t>
            </a:r>
            <a:endParaRPr lang="en-US" sz="1300" dirty="0"/>
          </a:p>
        </p:txBody>
      </p:sp>
      <p:sp>
        <p:nvSpPr>
          <p:cNvPr id="12" name="Shape 10"/>
          <p:cNvSpPr/>
          <p:nvPr/>
        </p:nvSpPr>
        <p:spPr>
          <a:xfrm>
            <a:off x="812800" y="4559302"/>
            <a:ext cx="2584450" cy="254000"/>
          </a:xfrm>
          <a:prstGeom prst="roundRect">
            <a:avLst>
              <a:gd name="adj" fmla="val 10000"/>
            </a:avLst>
          </a:prstGeom>
          <a:solidFill>
            <a:srgbClr val="4FD1B0"/>
          </a:solidFill>
          <a:ln/>
        </p:spPr>
        <p:txBody>
          <a:bodyPr/>
          <a:lstStyle/>
          <a:p>
            <a:endParaRPr lang="en-SG"/>
          </a:p>
        </p:txBody>
      </p:sp>
      <p:sp>
        <p:nvSpPr>
          <p:cNvPr id="13" name="Text 11"/>
          <p:cNvSpPr/>
          <p:nvPr/>
        </p:nvSpPr>
        <p:spPr>
          <a:xfrm>
            <a:off x="3498850" y="4561841"/>
            <a:ext cx="251853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1B0"/>
                </a:solidFill>
                <a:latin typeface="IBM Plex Sans" pitchFamily="34" charset="0"/>
                <a:ea typeface="IBM Plex Sans" pitchFamily="34" charset="-122"/>
                <a:cs typeface="IBM Plex Sans" pitchFamily="34" charset="-120"/>
              </a:rPr>
              <a:t>0.1331 · 9.7% handed off</a:t>
            </a:r>
            <a:endParaRPr lang="en-US" sz="1400" dirty="0"/>
          </a:p>
        </p:txBody>
      </p:sp>
      <p:sp>
        <p:nvSpPr>
          <p:cNvPr id="14" name="Text 12"/>
          <p:cNvSpPr/>
          <p:nvPr/>
        </p:nvSpPr>
        <p:spPr>
          <a:xfrm>
            <a:off x="7315200" y="2428241"/>
            <a:ext cx="41859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1"/>
                </a:solidFill>
                <a:latin typeface="Space Grotesk" pitchFamily="34" charset="0"/>
                <a:ea typeface="Space Grotesk" pitchFamily="34" charset="-122"/>
                <a:cs typeface="Space Grotesk" pitchFamily="34" charset="-120"/>
              </a:rPr>
              <a:t>Label quality</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21973" y="2805854"/>
          <a:ext cx="4057227" cy="2661071"/>
        </p:xfrm>
        <a:graphic>
          <a:graphicData uri="http://schemas.openxmlformats.org/drawingml/2006/table">
            <a:tbl>
              <a:tblPr/>
              <a:tblGrid>
                <a:gridCol w="2840059">
                  <a:extLst>
                    <a:ext uri="{9D8B030D-6E8A-4147-A177-3AD203B41FA5}">
                      <a16:colId xmlns:a16="http://schemas.microsoft.com/office/drawing/2014/main" val="20000"/>
                    </a:ext>
                  </a:extLst>
                </a:gridCol>
                <a:gridCol w="1217168">
                  <a:extLst>
                    <a:ext uri="{9D8B030D-6E8A-4147-A177-3AD203B41FA5}">
                      <a16:colId xmlns:a16="http://schemas.microsoft.com/office/drawing/2014/main" val="20001"/>
                    </a:ext>
                  </a:extLst>
                </a:gridCol>
              </a:tblGrid>
              <a:tr h="380153">
                <a:tc>
                  <a:txBody>
                    <a:bodyPr/>
                    <a:lstStyle/>
                    <a:p>
                      <a:pPr marL="0" indent="0">
                        <a:lnSpc>
                          <a:spcPts val="1960"/>
                        </a:lnSpc>
                        <a:buNone/>
                      </a:pPr>
                      <a:r>
                        <a:rPr lang="en-US" sz="1400" b="1" dirty="0">
                          <a:solidFill>
                            <a:srgbClr val="B8C4CF"/>
                          </a:solidFill>
                          <a:latin typeface="IBM Plex Sans" pitchFamily="34" charset="0"/>
                          <a:ea typeface="IBM Plex Sans" pitchFamily="34" charset="-122"/>
                          <a:cs typeface="IBM Plex Sans" pitchFamily="34" charset="-120"/>
                        </a:rPr>
                        <a:t>Metric</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tc>
                  <a:txBody>
                    <a:bodyPr/>
                    <a:lstStyle/>
                    <a:p>
                      <a:pPr marL="0" indent="0" algn="r">
                        <a:lnSpc>
                          <a:spcPts val="1960"/>
                        </a:lnSpc>
                        <a:buNone/>
                      </a:pPr>
                      <a:r>
                        <a:rPr lang="en-US" sz="1400" b="1" dirty="0">
                          <a:solidFill>
                            <a:srgbClr val="B8C4CF"/>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545D66"/>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extLst>
                  <a:ext uri="{0D108BD9-81ED-4DB2-BD59-A6C34878D82A}">
                    <a16:rowId xmlns:a16="http://schemas.microsoft.com/office/drawing/2014/main" val="10000"/>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Category macro-F1</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0.862</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1"/>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Priority macro-F1</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0.769</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2"/>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Team macro-F1</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0.898</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3"/>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Sentiment macro-F1</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0.886</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4"/>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P1 recall</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0.838</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5"/>
                  </a:ext>
                </a:extLst>
              </a:tr>
              <a:tr h="380153">
                <a:tc>
                  <a:txBody>
                    <a:bodyPr/>
                    <a:lstStyle/>
                    <a:p>
                      <a:pPr marL="0" indent="0">
                        <a:lnSpc>
                          <a:spcPts val="1960"/>
                        </a:lnSpc>
                        <a:buNone/>
                      </a:pPr>
                      <a:r>
                        <a:rPr lang="en-US" sz="1400" dirty="0">
                          <a:solidFill>
                            <a:srgbClr val="F6F5F1"/>
                          </a:solidFill>
                          <a:latin typeface="IBM Plex Sans" pitchFamily="34" charset="0"/>
                          <a:ea typeface="IBM Plex Sans" pitchFamily="34" charset="-122"/>
                          <a:cs typeface="IBM Plex Sans" pitchFamily="34" charset="-120"/>
                        </a:rPr>
                        <a:t>Escalation-risk F1</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marL="0" indent="0" algn="r">
                        <a:lnSpc>
                          <a:spcPts val="1960"/>
                        </a:lnSpc>
                        <a:buNone/>
                      </a:pPr>
                      <a:r>
                        <a:rPr lang="en-US" sz="1400" dirty="0">
                          <a:solidFill>
                            <a:srgbClr val="F6F5F1"/>
                          </a:solidFill>
                          <a:latin typeface="IBM Plex Sans" pitchFamily="34" charset="0"/>
                          <a:ea typeface="IBM Plex Sans" pitchFamily="34" charset="-122"/>
                          <a:cs typeface="IBM Plex Sans" pitchFamily="34" charset="-120"/>
                        </a:rPr>
                        <a:t>0.858</a:t>
                      </a:r>
                      <a:endParaRPr lang="en-US" sz="1400" dirty="0">
                        <a:latin typeface="IBM Plex Sans" charset="0"/>
                        <a:ea typeface="IBM Plex Sans" charset="0"/>
                        <a:cs typeface="IBM Plex Sans" charset="0"/>
                      </a:endParaRPr>
                    </a:p>
                  </a:txBody>
                  <a:tcPr marL="62230" marR="62230" marT="62230" marB="62230">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Text 13"/>
          <p:cNvSpPr/>
          <p:nvPr/>
        </p:nvSpPr>
        <p:spPr>
          <a:xfrm>
            <a:off x="812800" y="6238241"/>
            <a:ext cx="10883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F"/>
                </a:solidFill>
                <a:latin typeface="IBM Plex Sans" pitchFamily="34" charset="0"/>
                <a:ea typeface="IBM Plex Sans" pitchFamily="34" charset="-122"/>
                <a:cs typeface="IBM Plex Sans" pitchFamily="34" charset="-120"/>
              </a:rPr>
              <a:t>03 Ticket Triage · 3 · TEST macro-F1 within 0.007 of VAL, so selecting on VAL did not overfit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75F"/>
                </a:solidFill>
                <a:latin typeface="IBM Plex Sans" pitchFamily="34" charset="0"/>
                <a:ea typeface="IBM Plex Sans" pitchFamily="34" charset="-122"/>
                <a:cs typeface="IBM Plex Sans" pitchFamily="34" charset="-120"/>
              </a:rPr>
              <a:t>BUSINESS IMPACT · PER 10,000 TICKETS</a:t>
            </a:r>
            <a:endParaRPr lang="en-US" sz="1200" dirty="0"/>
          </a:p>
        </p:txBody>
      </p:sp>
      <p:sp>
        <p:nvSpPr>
          <p:cNvPr id="3" name="Text 1"/>
          <p:cNvSpPr>
            <a:spLocks noGrp="1"/>
          </p:cNvSpPr>
          <p:nvPr>
            <p:ph type="title"/>
          </p:nvPr>
        </p:nvSpPr>
        <p:spPr>
          <a:xfrm>
            <a:off x="812800" y="1280159"/>
            <a:ext cx="10883393"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3202E"/>
                </a:solidFill>
                <a:latin typeface="Space Grotesk" pitchFamily="34" charset="0"/>
                <a:ea typeface="Space Grotesk" pitchFamily="34" charset="-122"/>
                <a:cs typeface="Space Grotesk" pitchFamily="34" charset="-120"/>
              </a:rPr>
              <a:t>Fewer tickets for people, fewer costly mistakes</a:t>
            </a:r>
            <a:endParaRPr lang="en-US" sz="2800" dirty="0"/>
          </a:p>
        </p:txBody>
      </p:sp>
      <p:sp>
        <p:nvSpPr>
          <p:cNvPr id="4" name="Shape 2"/>
          <p:cNvSpPr/>
          <p:nvPr/>
        </p:nvSpPr>
        <p:spPr>
          <a:xfrm>
            <a:off x="815975" y="1928495"/>
            <a:ext cx="3380317" cy="2125557"/>
          </a:xfrm>
          <a:prstGeom prst="roundRect">
            <a:avLst>
              <a:gd name="adj" fmla="val 4631"/>
            </a:avLst>
          </a:prstGeom>
          <a:solidFill>
            <a:srgbClr val="FDFCFA"/>
          </a:solidFill>
          <a:ln w="6350">
            <a:solidFill>
              <a:srgbClr val="DDDAD2"/>
            </a:solidFill>
            <a:prstDash val="solid"/>
          </a:ln>
        </p:spPr>
        <p:txBody>
          <a:bodyPr/>
          <a:lstStyle/>
          <a:p>
            <a:endParaRPr lang="en-SG"/>
          </a:p>
        </p:txBody>
      </p:sp>
      <p:sp>
        <p:nvSpPr>
          <p:cNvPr id="5" name="Text 3"/>
          <p:cNvSpPr/>
          <p:nvPr/>
        </p:nvSpPr>
        <p:spPr>
          <a:xfrm>
            <a:off x="1022773" y="2135293"/>
            <a:ext cx="305572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00775F"/>
                </a:solidFill>
                <a:latin typeface="Space Grotesk" pitchFamily="34" charset="0"/>
                <a:ea typeface="Space Grotesk" pitchFamily="34" charset="-122"/>
                <a:cs typeface="Space Grotesk" pitchFamily="34" charset="-120"/>
              </a:rPr>
              <a:t>−22%</a:t>
            </a:r>
            <a:endParaRPr lang="en-US" sz="4800" dirty="0"/>
          </a:p>
        </p:txBody>
      </p:sp>
      <p:sp>
        <p:nvSpPr>
          <p:cNvPr id="6" name="Text 4"/>
          <p:cNvSpPr/>
          <p:nvPr/>
        </p:nvSpPr>
        <p:spPr>
          <a:xfrm>
            <a:off x="1022773" y="2882054"/>
            <a:ext cx="3055722"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02E"/>
                </a:solidFill>
                <a:latin typeface="IBM Plex Sans" pitchFamily="34" charset="0"/>
                <a:ea typeface="IBM Plex Sans" pitchFamily="34" charset="-122"/>
                <a:cs typeface="IBM Plex Sans" pitchFamily="34" charset="-120"/>
              </a:rPr>
              <a:t>routing cost vs routing every ticket</a:t>
            </a:r>
            <a:endParaRPr lang="en-US" sz="1400" dirty="0"/>
          </a:p>
        </p:txBody>
      </p:sp>
      <p:sp>
        <p:nvSpPr>
          <p:cNvPr id="7" name="Text 5"/>
          <p:cNvSpPr/>
          <p:nvPr/>
        </p:nvSpPr>
        <p:spPr>
          <a:xfrm>
            <a:off x="1022773" y="3189393"/>
            <a:ext cx="30557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369 cost units saved, the cost of 46 misrouted P1 outages</a:t>
            </a:r>
            <a:endParaRPr lang="en-US" sz="1200" dirty="0"/>
          </a:p>
        </p:txBody>
      </p:sp>
      <p:sp>
        <p:nvSpPr>
          <p:cNvPr id="8" name="Shape 6"/>
          <p:cNvSpPr/>
          <p:nvPr/>
        </p:nvSpPr>
        <p:spPr>
          <a:xfrm>
            <a:off x="4405842" y="1928495"/>
            <a:ext cx="3380317" cy="2125557"/>
          </a:xfrm>
          <a:prstGeom prst="roundRect">
            <a:avLst>
              <a:gd name="adj" fmla="val 4631"/>
            </a:avLst>
          </a:prstGeom>
          <a:solidFill>
            <a:srgbClr val="FDFCFA"/>
          </a:solidFill>
          <a:ln w="6350">
            <a:solidFill>
              <a:srgbClr val="DDDAD2"/>
            </a:solidFill>
            <a:prstDash val="solid"/>
          </a:ln>
        </p:spPr>
        <p:txBody>
          <a:bodyPr/>
          <a:lstStyle/>
          <a:p>
            <a:endParaRPr lang="en-SG"/>
          </a:p>
        </p:txBody>
      </p:sp>
      <p:sp>
        <p:nvSpPr>
          <p:cNvPr id="9" name="Text 7"/>
          <p:cNvSpPr/>
          <p:nvPr/>
        </p:nvSpPr>
        <p:spPr>
          <a:xfrm>
            <a:off x="4612640" y="2135293"/>
            <a:ext cx="305572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00775F"/>
                </a:solidFill>
                <a:latin typeface="Space Grotesk" pitchFamily="34" charset="0"/>
                <a:ea typeface="Space Grotesk" pitchFamily="34" charset="-122"/>
                <a:cs typeface="Space Grotesk" pitchFamily="34" charset="-120"/>
              </a:rPr>
              <a:t>970</a:t>
            </a:r>
            <a:endParaRPr lang="en-US" sz="4800" dirty="0"/>
          </a:p>
        </p:txBody>
      </p:sp>
      <p:sp>
        <p:nvSpPr>
          <p:cNvPr id="10" name="Text 8"/>
          <p:cNvSpPr/>
          <p:nvPr/>
        </p:nvSpPr>
        <p:spPr>
          <a:xfrm>
            <a:off x="4612640" y="2882054"/>
            <a:ext cx="3055722"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02E"/>
                </a:solidFill>
                <a:latin typeface="IBM Plex Sans" pitchFamily="34" charset="0"/>
                <a:ea typeface="IBM Plex Sans" pitchFamily="34" charset="-122"/>
                <a:cs typeface="IBM Plex Sans" pitchFamily="34" charset="-120"/>
              </a:rPr>
              <a:t>tickets for the human desk, not 1,500</a:t>
            </a:r>
            <a:endParaRPr lang="en-US" sz="1400" dirty="0"/>
          </a:p>
        </p:txBody>
      </p:sp>
      <p:sp>
        <p:nvSpPr>
          <p:cNvPr id="11" name="Text 9"/>
          <p:cNvSpPr/>
          <p:nvPr/>
        </p:nvSpPr>
        <p:spPr>
          <a:xfrm>
            <a:off x="4612640" y="3420532"/>
            <a:ext cx="30557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530 fewer than the 15% rule, with room left for surges</a:t>
            </a:r>
            <a:endParaRPr lang="en-US" sz="1200" dirty="0"/>
          </a:p>
        </p:txBody>
      </p:sp>
      <p:sp>
        <p:nvSpPr>
          <p:cNvPr id="12" name="Shape 10"/>
          <p:cNvSpPr/>
          <p:nvPr/>
        </p:nvSpPr>
        <p:spPr>
          <a:xfrm>
            <a:off x="7995709" y="1928495"/>
            <a:ext cx="3380317" cy="2125557"/>
          </a:xfrm>
          <a:prstGeom prst="roundRect">
            <a:avLst>
              <a:gd name="adj" fmla="val 4631"/>
            </a:avLst>
          </a:prstGeom>
          <a:solidFill>
            <a:srgbClr val="FDFCFA"/>
          </a:solidFill>
          <a:ln w="6350">
            <a:solidFill>
              <a:srgbClr val="DDDAD2"/>
            </a:solidFill>
            <a:prstDash val="solid"/>
          </a:ln>
        </p:spPr>
        <p:txBody>
          <a:bodyPr/>
          <a:lstStyle/>
          <a:p>
            <a:endParaRPr lang="en-SG"/>
          </a:p>
        </p:txBody>
      </p:sp>
      <p:sp>
        <p:nvSpPr>
          <p:cNvPr id="13" name="Text 11"/>
          <p:cNvSpPr/>
          <p:nvPr/>
        </p:nvSpPr>
        <p:spPr>
          <a:xfrm>
            <a:off x="8202507" y="2135293"/>
            <a:ext cx="305572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00775F"/>
                </a:solidFill>
                <a:latin typeface="Space Grotesk" pitchFamily="34" charset="0"/>
                <a:ea typeface="Space Grotesk" pitchFamily="34" charset="-122"/>
                <a:cs typeface="Space Grotesk" pitchFamily="34" charset="-120"/>
              </a:rPr>
              <a:t>81%</a:t>
            </a:r>
            <a:endParaRPr lang="en-US" sz="4800" dirty="0"/>
          </a:p>
        </p:txBody>
      </p:sp>
      <p:sp>
        <p:nvSpPr>
          <p:cNvPr id="14" name="Text 12"/>
          <p:cNvSpPr/>
          <p:nvPr/>
        </p:nvSpPr>
        <p:spPr>
          <a:xfrm>
            <a:off x="8202507" y="2882054"/>
            <a:ext cx="3055722"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02E"/>
                </a:solidFill>
                <a:latin typeface="IBM Plex Sans" pitchFamily="34" charset="0"/>
                <a:ea typeface="IBM Plex Sans" pitchFamily="34" charset="-122"/>
                <a:cs typeface="IBM Plex Sans" pitchFamily="34" charset="-120"/>
              </a:rPr>
              <a:t>of P1 outages flagged as P1</a:t>
            </a:r>
            <a:endParaRPr lang="en-US" sz="1400" dirty="0"/>
          </a:p>
        </p:txBody>
      </p:sp>
      <p:sp>
        <p:nvSpPr>
          <p:cNvPr id="15" name="Text 13"/>
          <p:cNvSpPr/>
          <p:nvPr/>
        </p:nvSpPr>
        <p:spPr>
          <a:xfrm>
            <a:off x="8202507" y="3189393"/>
            <a:ext cx="30557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Up from 53% for a plain baseline (VAL)</a:t>
            </a:r>
            <a:endParaRPr lang="en-US" sz="1200" dirty="0"/>
          </a:p>
        </p:txBody>
      </p:sp>
      <p:sp>
        <p:nvSpPr>
          <p:cNvPr id="16" name="Shape 14"/>
          <p:cNvSpPr/>
          <p:nvPr/>
        </p:nvSpPr>
        <p:spPr>
          <a:xfrm>
            <a:off x="812800" y="4311227"/>
            <a:ext cx="10566401" cy="1224280"/>
          </a:xfrm>
          <a:prstGeom prst="roundRect">
            <a:avLst>
              <a:gd name="adj" fmla="val 8299"/>
            </a:avLst>
          </a:prstGeom>
          <a:solidFill>
            <a:srgbClr val="13202E"/>
          </a:solidFill>
          <a:ln/>
        </p:spPr>
        <p:txBody>
          <a:bodyPr/>
          <a:lstStyle/>
          <a:p>
            <a:endParaRPr lang="en-SG"/>
          </a:p>
        </p:txBody>
      </p:sp>
      <p:sp>
        <p:nvSpPr>
          <p:cNvPr id="17" name="Text 15"/>
          <p:cNvSpPr/>
          <p:nvPr/>
        </p:nvSpPr>
        <p:spPr>
          <a:xfrm>
            <a:off x="1066800" y="4514427"/>
            <a:ext cx="10360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4FD1B0"/>
                </a:solidFill>
                <a:latin typeface="Space Grotesk" pitchFamily="34" charset="0"/>
                <a:ea typeface="Space Grotesk" pitchFamily="34" charset="-122"/>
                <a:cs typeface="Space Grotesk" pitchFamily="34" charset="-120"/>
              </a:rPr>
              <a:t>Recommendation</a:t>
            </a:r>
            <a:endParaRPr lang="en-US" sz="1600" dirty="0"/>
          </a:p>
        </p:txBody>
      </p:sp>
      <p:sp>
        <p:nvSpPr>
          <p:cNvPr id="18" name="Text 16"/>
          <p:cNvSpPr/>
          <p:nvPr/>
        </p:nvSpPr>
        <p:spPr>
          <a:xfrm>
            <a:off x="1066800" y="4834466"/>
            <a:ext cx="1036015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5F1"/>
                </a:solidFill>
                <a:latin typeface="IBM Plex Sans" pitchFamily="34" charset="0"/>
                <a:ea typeface="IBM Plex Sans" pitchFamily="34" charset="-122"/>
                <a:cs typeface="IBM Plex Sans" pitchFamily="34" charset="-120"/>
              </a:rPr>
              <a:t>Use it as the first-line router: about 90% of tickets go straight to a team, and the triage desk handles the 10% where a mistake costs most. Every decision carries its reason, so agents can check it.</a:t>
            </a:r>
            <a:endParaRPr lang="en-US" sz="1400" dirty="0"/>
          </a:p>
        </p:txBody>
      </p:sp>
      <p:sp>
        <p:nvSpPr>
          <p:cNvPr id="19" name="Text 17"/>
          <p:cNvSpPr/>
          <p:nvPr/>
        </p:nvSpPr>
        <p:spPr>
          <a:xfrm>
            <a:off x="812800" y="6238241"/>
            <a:ext cx="10883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pitchFamily="34" charset="0"/>
                <a:ea typeface="IBM Plex Sans" pitchFamily="34" charset="-122"/>
                <a:cs typeface="IBM Plex Sans" pitchFamily="34" charset="-120"/>
              </a:rPr>
              <a:t>03 Ticket Triage · 4 · TEST results scaled to 10,000 tickets; cost units from the pack's cost matrix (1 unit = one P1 hand-off)</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75F"/>
                </a:solidFill>
                <a:latin typeface="IBM Plex Sans" pitchFamily="34" charset="0"/>
                <a:ea typeface="IBM Plex Sans" pitchFamily="34" charset="-122"/>
                <a:cs typeface="IBM Plex Sans" pitchFamily="34" charset="-120"/>
              </a:rPr>
              <a:t>CURVEBALL TICKETS AND NEXT STEPS</a:t>
            </a:r>
            <a:endParaRPr lang="en-US" sz="1200" dirty="0"/>
          </a:p>
        </p:txBody>
      </p:sp>
      <p:sp>
        <p:nvSpPr>
          <p:cNvPr id="3" name="Text 1"/>
          <p:cNvSpPr>
            <a:spLocks noGrp="1"/>
          </p:cNvSpPr>
          <p:nvPr>
            <p:ph type="title"/>
          </p:nvPr>
        </p:nvSpPr>
        <p:spPr>
          <a:xfrm>
            <a:off x="812800" y="1254761"/>
            <a:ext cx="11379200"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02E"/>
                </a:solidFill>
                <a:latin typeface="Space Grotesk" pitchFamily="34" charset="0"/>
                <a:ea typeface="Space Grotesk" pitchFamily="34" charset="-122"/>
                <a:cs typeface="Space Grotesk" pitchFamily="34" charset="-120"/>
              </a:rPr>
              <a:t>Holds on other languages, misses a new kind of ticket</a:t>
            </a:r>
            <a:endParaRPr lang="en-US" sz="3200" dirty="0"/>
          </a:p>
        </p:txBody>
      </p:sp>
      <p:pic>
        <p:nvPicPr>
          <p:cNvPr id="4" name="Image 0" descr="Batch CSV tab scoring the 15 curveball tickets: 2 sent to a human, 13.3% hand-off rate, with a ROUTE or SEND TO HUMAN decision and reason per ticket"/>
          <p:cNvPicPr>
            <a:picLocks noChangeAspect="1"/>
          </p:cNvPicPr>
          <p:nvPr/>
        </p:nvPicPr>
        <p:blipFill>
          <a:blip r:embed="rId3"/>
          <a:srcRect t="88" b="88"/>
          <a:stretch/>
        </p:blipFill>
        <p:spPr>
          <a:xfrm>
            <a:off x="819150" y="1936750"/>
            <a:ext cx="5448300" cy="2324100"/>
          </a:xfrm>
          <a:prstGeom prst="roundRect">
            <a:avLst>
              <a:gd name="adj" fmla="val 4098"/>
            </a:avLst>
          </a:prstGeom>
        </p:spPr>
      </p:pic>
      <p:sp>
        <p:nvSpPr>
          <p:cNvPr id="5" name="Shape 2"/>
          <p:cNvSpPr/>
          <p:nvPr/>
        </p:nvSpPr>
        <p:spPr>
          <a:xfrm>
            <a:off x="815975" y="1933575"/>
            <a:ext cx="5454650" cy="2330450"/>
          </a:xfrm>
          <a:prstGeom prst="roundRect">
            <a:avLst>
              <a:gd name="adj" fmla="val 4223"/>
            </a:avLst>
          </a:prstGeom>
          <a:noFill/>
          <a:ln w="6350">
            <a:solidFill>
              <a:srgbClr val="DDDAD2"/>
            </a:solidFill>
            <a:prstDash val="solid"/>
          </a:ln>
        </p:spPr>
        <p:txBody>
          <a:bodyPr/>
          <a:lstStyle/>
          <a:p>
            <a:endParaRPr lang="en-SG"/>
          </a:p>
        </p:txBody>
      </p:sp>
      <p:pic>
        <p:nvPicPr>
          <p:cNvPr id="6" name="Image 1" descr="CheckCircle"/>
          <p:cNvPicPr>
            <a:picLocks noChangeAspect="1"/>
          </p:cNvPicPr>
          <p:nvPr/>
        </p:nvPicPr>
        <p:blipFill>
          <a:blip r:embed="rId4"/>
          <a:srcRect/>
          <a:stretch/>
        </p:blipFill>
        <p:spPr>
          <a:xfrm>
            <a:off x="6527800" y="1950721"/>
            <a:ext cx="203200" cy="203200"/>
          </a:xfrm>
          <a:prstGeom prst="rect">
            <a:avLst/>
          </a:prstGeom>
        </p:spPr>
      </p:pic>
      <p:sp>
        <p:nvSpPr>
          <p:cNvPr id="7" name="Text 3"/>
          <p:cNvSpPr/>
          <p:nvPr/>
        </p:nvSpPr>
        <p:spPr>
          <a:xfrm>
            <a:off x="6807200" y="1930400"/>
            <a:ext cx="65747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775F"/>
                </a:solidFill>
                <a:latin typeface="Space Grotesk" pitchFamily="34" charset="0"/>
                <a:ea typeface="Space Grotesk" pitchFamily="34" charset="-122"/>
                <a:cs typeface="Space Grotesk" pitchFamily="34" charset="-120"/>
              </a:rPr>
              <a:t>Holds</a:t>
            </a:r>
            <a:endParaRPr lang="en-US" sz="1600" dirty="0"/>
          </a:p>
        </p:txBody>
      </p:sp>
      <p:sp>
        <p:nvSpPr>
          <p:cNvPr id="8" name="Text 4"/>
          <p:cNvSpPr/>
          <p:nvPr/>
        </p:nvSpPr>
        <p:spPr>
          <a:xfrm>
            <a:off x="6527800" y="2225042"/>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Malay and German outages routed to the right team</a:t>
            </a:r>
            <a:endParaRPr lang="en-US" sz="1200" dirty="0"/>
          </a:p>
        </p:txBody>
      </p:sp>
      <p:sp>
        <p:nvSpPr>
          <p:cNvPr id="9" name="Text 5"/>
          <p:cNvSpPr/>
          <p:nvPr/>
        </p:nvSpPr>
        <p:spPr>
          <a:xfrm>
            <a:off x="6527800" y="2489203"/>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"it broke" handed off by the short-body guard</a:t>
            </a:r>
            <a:endParaRPr lang="en-US" sz="1200" dirty="0"/>
          </a:p>
        </p:txBody>
      </p:sp>
      <p:pic>
        <p:nvPicPr>
          <p:cNvPr id="10" name="Image 2" descr="Warning"/>
          <p:cNvPicPr>
            <a:picLocks noChangeAspect="1"/>
          </p:cNvPicPr>
          <p:nvPr/>
        </p:nvPicPr>
        <p:blipFill>
          <a:blip r:embed="rId5"/>
          <a:srcRect/>
          <a:stretch/>
        </p:blipFill>
        <p:spPr>
          <a:xfrm>
            <a:off x="6527800" y="2875282"/>
            <a:ext cx="203200" cy="203200"/>
          </a:xfrm>
          <a:prstGeom prst="rect">
            <a:avLst/>
          </a:prstGeom>
        </p:spPr>
      </p:pic>
      <p:sp>
        <p:nvSpPr>
          <p:cNvPr id="11" name="Text 6"/>
          <p:cNvSpPr/>
          <p:nvPr/>
        </p:nvSpPr>
        <p:spPr>
          <a:xfrm>
            <a:off x="6807200" y="2854961"/>
            <a:ext cx="80403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Space Grotesk" pitchFamily="34" charset="0"/>
                <a:ea typeface="Space Grotesk" pitchFamily="34" charset="-122"/>
                <a:cs typeface="Space Grotesk" pitchFamily="34" charset="-120"/>
              </a:rPr>
              <a:t>Misses</a:t>
            </a:r>
            <a:endParaRPr lang="en-US" sz="1600" dirty="0"/>
          </a:p>
        </p:txBody>
      </p:sp>
      <p:sp>
        <p:nvSpPr>
          <p:cNvPr id="12" name="Text 7"/>
          <p:cNvSpPr/>
          <p:nvPr/>
        </p:nvSpPr>
        <p:spPr>
          <a:xfrm>
            <a:off x="6527800" y="3149603"/>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Server-room aircon failure sent to Server-HW</a:t>
            </a:r>
            <a:endParaRPr lang="en-US" sz="1200" dirty="0"/>
          </a:p>
        </p:txBody>
      </p:sp>
      <p:sp>
        <p:nvSpPr>
          <p:cNvPr id="13" name="Text 8"/>
          <p:cNvSpPr/>
          <p:nvPr/>
        </p:nvSpPr>
        <p:spPr>
          <a:xfrm>
            <a:off x="6527800" y="3413761"/>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Payments outage in 140 stores scored P2, not P1</a:t>
            </a:r>
            <a:endParaRPr lang="en-US" sz="1200" dirty="0"/>
          </a:p>
        </p:txBody>
      </p:sp>
      <p:sp>
        <p:nvSpPr>
          <p:cNvPr id="14" name="Text 9"/>
          <p:cNvSpPr/>
          <p:nvPr/>
        </p:nvSpPr>
        <p:spPr>
          <a:xfrm>
            <a:off x="6527800" y="3677921"/>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Sarcastic complaint read as Neutral</a:t>
            </a:r>
            <a:endParaRPr lang="en-US" sz="1200" dirty="0"/>
          </a:p>
        </p:txBody>
      </p:sp>
      <p:sp>
        <p:nvSpPr>
          <p:cNvPr id="15" name="Shape 10"/>
          <p:cNvSpPr/>
          <p:nvPr/>
        </p:nvSpPr>
        <p:spPr>
          <a:xfrm>
            <a:off x="815975" y="4498978"/>
            <a:ext cx="3414183" cy="781897"/>
          </a:xfrm>
          <a:prstGeom prst="roundRect">
            <a:avLst>
              <a:gd name="adj" fmla="val 12588"/>
            </a:avLst>
          </a:prstGeom>
          <a:solidFill>
            <a:srgbClr val="FDFCFA"/>
          </a:solidFill>
          <a:ln w="6350">
            <a:solidFill>
              <a:srgbClr val="DDDAD2"/>
            </a:solidFill>
            <a:prstDash val="solid"/>
          </a:ln>
        </p:spPr>
        <p:txBody>
          <a:bodyPr/>
          <a:lstStyle/>
          <a:p>
            <a:endParaRPr lang="en-SG"/>
          </a:p>
        </p:txBody>
      </p:sp>
      <p:sp>
        <p:nvSpPr>
          <p:cNvPr id="16" name="Text 11"/>
          <p:cNvSpPr/>
          <p:nvPr/>
        </p:nvSpPr>
        <p:spPr>
          <a:xfrm>
            <a:off x="971973" y="4654975"/>
            <a:ext cx="31952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E"/>
                </a:solidFill>
                <a:latin typeface="Space Grotesk" pitchFamily="34" charset="0"/>
                <a:ea typeface="Space Grotesk" pitchFamily="34" charset="-122"/>
                <a:cs typeface="Space Grotesk" pitchFamily="34" charset="-120"/>
              </a:rPr>
              <a:t>Facilities guard</a:t>
            </a:r>
            <a:endParaRPr lang="en-US" sz="1400" dirty="0"/>
          </a:p>
        </p:txBody>
      </p:sp>
      <p:sp>
        <p:nvSpPr>
          <p:cNvPr id="17" name="Text 12"/>
          <p:cNvSpPr/>
          <p:nvPr/>
        </p:nvSpPr>
        <p:spPr>
          <a:xfrm>
            <a:off x="971973" y="4919135"/>
            <a:ext cx="319525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3"/>
                </a:solidFill>
                <a:latin typeface="IBM Plex Sans" pitchFamily="34" charset="0"/>
                <a:ea typeface="IBM Plex Sans" pitchFamily="34" charset="-122"/>
                <a:cs typeface="IBM Plex Sans" pitchFamily="34" charset="-120"/>
              </a:rPr>
              <a:t>~165 eval tickets routed to IT</a:t>
            </a:r>
            <a:endParaRPr lang="en-US" sz="1200" dirty="0"/>
          </a:p>
        </p:txBody>
      </p:sp>
      <p:sp>
        <p:nvSpPr>
          <p:cNvPr id="18" name="Shape 13"/>
          <p:cNvSpPr/>
          <p:nvPr/>
        </p:nvSpPr>
        <p:spPr>
          <a:xfrm>
            <a:off x="4388908" y="4498978"/>
            <a:ext cx="3414183" cy="781897"/>
          </a:xfrm>
          <a:prstGeom prst="roundRect">
            <a:avLst>
              <a:gd name="adj" fmla="val 12588"/>
            </a:avLst>
          </a:prstGeom>
          <a:solidFill>
            <a:srgbClr val="FDFCFA"/>
          </a:solidFill>
          <a:ln w="6350">
            <a:solidFill>
              <a:srgbClr val="DDDAD2"/>
            </a:solidFill>
            <a:prstDash val="solid"/>
          </a:ln>
        </p:spPr>
        <p:txBody>
          <a:bodyPr/>
          <a:lstStyle/>
          <a:p>
            <a:endParaRPr lang="en-SG"/>
          </a:p>
        </p:txBody>
      </p:sp>
      <p:sp>
        <p:nvSpPr>
          <p:cNvPr id="19" name="Text 14"/>
          <p:cNvSpPr/>
          <p:nvPr/>
        </p:nvSpPr>
        <p:spPr>
          <a:xfrm>
            <a:off x="4544907" y="4654975"/>
            <a:ext cx="31952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E"/>
                </a:solidFill>
                <a:latin typeface="Space Grotesk" pitchFamily="34" charset="0"/>
                <a:ea typeface="Space Grotesk" pitchFamily="34" charset="-122"/>
                <a:cs typeface="Space Grotesk" pitchFamily="34" charset="-120"/>
              </a:rPr>
              <a:t>Empty-content guard</a:t>
            </a:r>
            <a:endParaRPr lang="en-US" sz="1400" dirty="0"/>
          </a:p>
        </p:txBody>
      </p:sp>
      <p:sp>
        <p:nvSpPr>
          <p:cNvPr id="20" name="Text 15"/>
          <p:cNvSpPr/>
          <p:nvPr/>
        </p:nvSpPr>
        <p:spPr>
          <a:xfrm>
            <a:off x="4544907" y="4919135"/>
            <a:ext cx="319525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3"/>
                </a:solidFill>
                <a:latin typeface="IBM Plex Sans" pitchFamily="34" charset="0"/>
                <a:ea typeface="IBM Plex Sans" pitchFamily="34" charset="-122"/>
                <a:cs typeface="IBM Plex Sans" pitchFamily="34" charset="-120"/>
              </a:rPr>
              <a:t>Vague follow-ups get a person</a:t>
            </a:r>
            <a:endParaRPr lang="en-US" sz="1200" dirty="0"/>
          </a:p>
        </p:txBody>
      </p:sp>
      <p:sp>
        <p:nvSpPr>
          <p:cNvPr id="21" name="Shape 16"/>
          <p:cNvSpPr/>
          <p:nvPr/>
        </p:nvSpPr>
        <p:spPr>
          <a:xfrm>
            <a:off x="7961842" y="4498978"/>
            <a:ext cx="3414183" cy="781897"/>
          </a:xfrm>
          <a:prstGeom prst="roundRect">
            <a:avLst>
              <a:gd name="adj" fmla="val 12588"/>
            </a:avLst>
          </a:prstGeom>
          <a:solidFill>
            <a:srgbClr val="FDFCFA"/>
          </a:solidFill>
          <a:ln w="6350">
            <a:solidFill>
              <a:srgbClr val="DDDAD2"/>
            </a:solidFill>
            <a:prstDash val="solid"/>
          </a:ln>
        </p:spPr>
        <p:txBody>
          <a:bodyPr/>
          <a:lstStyle/>
          <a:p>
            <a:endParaRPr lang="en-SG"/>
          </a:p>
        </p:txBody>
      </p:sp>
      <p:sp>
        <p:nvSpPr>
          <p:cNvPr id="22" name="Text 17"/>
          <p:cNvSpPr/>
          <p:nvPr/>
        </p:nvSpPr>
        <p:spPr>
          <a:xfrm>
            <a:off x="8117840" y="4654975"/>
            <a:ext cx="31952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2E"/>
                </a:solidFill>
                <a:latin typeface="Space Grotesk" pitchFamily="34" charset="0"/>
                <a:ea typeface="Space Grotesk" pitchFamily="34" charset="-122"/>
                <a:cs typeface="Space Grotesk" pitchFamily="34" charset="-120"/>
              </a:rPr>
              <a:t>Refit on all data</a:t>
            </a:r>
            <a:endParaRPr lang="en-US" sz="1400" dirty="0"/>
          </a:p>
        </p:txBody>
      </p:sp>
      <p:sp>
        <p:nvSpPr>
          <p:cNvPr id="23" name="Text 18"/>
          <p:cNvSpPr/>
          <p:nvPr/>
        </p:nvSpPr>
        <p:spPr>
          <a:xfrm>
            <a:off x="8117840" y="4919135"/>
            <a:ext cx="319525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3"/>
                </a:solidFill>
                <a:latin typeface="IBM Plex Sans" pitchFamily="34" charset="0"/>
                <a:ea typeface="IBM Plex Sans" pitchFamily="34" charset="-122"/>
                <a:cs typeface="IBM Plex Sans" pitchFamily="34" charset="-120"/>
              </a:rPr>
              <a:t>43% more training data</a:t>
            </a:r>
            <a:endParaRPr lang="en-US" sz="1200" dirty="0"/>
          </a:p>
        </p:txBody>
      </p:sp>
      <p:sp>
        <p:nvSpPr>
          <p:cNvPr id="24" name="Text 19"/>
          <p:cNvSpPr/>
          <p:nvPr/>
        </p:nvSpPr>
        <p:spPr>
          <a:xfrm>
            <a:off x="812800" y="6238242"/>
            <a:ext cx="10883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pitchFamily="34" charset="0"/>
                <a:ea typeface="IBM Plex Sans" pitchFamily="34" charset="-122"/>
                <a:cs typeface="IBM Plex Sans" pitchFamily="34" charset="-120"/>
              </a:rPr>
              <a:t>03 Ticket Triage · 5 · Screenshot: the app's Batch CSV tab on the 15 curveball tickets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A1A12F-61D5-7BB5-599A-6A3ED04E60CD}"/>
              </a:ext>
            </a:extLst>
          </p:cNvPr>
          <p:cNvPicPr>
            <a:picLocks noChangeAspect="1"/>
          </p:cNvPicPr>
          <p:nvPr/>
        </p:nvPicPr>
        <p:blipFill>
          <a:blip r:embed="rId2"/>
          <a:stretch>
            <a:fillRect/>
          </a:stretch>
        </p:blipFill>
        <p:spPr>
          <a:xfrm>
            <a:off x="5407" y="0"/>
            <a:ext cx="12181185" cy="6858000"/>
          </a:xfrm>
          <a:prstGeom prst="rect">
            <a:avLst/>
          </a:prstGeom>
        </p:spPr>
      </p:pic>
    </p:spTree>
    <p:extLst>
      <p:ext uri="{BB962C8B-B14F-4D97-AF65-F5344CB8AC3E}">
        <p14:creationId xmlns:p14="http://schemas.microsoft.com/office/powerpoint/2010/main" val="370448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F4AC3-8892-181B-7755-24C72040A3F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E2F0D5-42FE-CE21-9CDF-0256FCE07D29}"/>
              </a:ext>
            </a:extLst>
          </p:cNvPr>
          <p:cNvPicPr>
            <a:picLocks noChangeAspect="1"/>
          </p:cNvPicPr>
          <p:nvPr/>
        </p:nvPicPr>
        <p:blipFill>
          <a:blip r:embed="rId2"/>
          <a:stretch>
            <a:fillRect/>
          </a:stretch>
        </p:blipFill>
        <p:spPr>
          <a:xfrm>
            <a:off x="0" y="14492"/>
            <a:ext cx="12192000" cy="6829016"/>
          </a:xfrm>
          <a:prstGeom prst="rect">
            <a:avLst/>
          </a:prstGeom>
        </p:spPr>
      </p:pic>
    </p:spTree>
    <p:extLst>
      <p:ext uri="{BB962C8B-B14F-4D97-AF65-F5344CB8AC3E}">
        <p14:creationId xmlns:p14="http://schemas.microsoft.com/office/powerpoint/2010/main" val="100076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FB15-C385-D925-BEEF-0CBB303E3E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34F71A-1671-B627-372D-51DBCD27A951}"/>
              </a:ext>
            </a:extLst>
          </p:cNvPr>
          <p:cNvPicPr>
            <a:picLocks noChangeAspect="1"/>
          </p:cNvPicPr>
          <p:nvPr/>
        </p:nvPicPr>
        <p:blipFill>
          <a:blip r:embed="rId2"/>
          <a:stretch>
            <a:fillRect/>
          </a:stretch>
        </p:blipFill>
        <p:spPr>
          <a:xfrm>
            <a:off x="0" y="1635"/>
            <a:ext cx="12192000" cy="6854730"/>
          </a:xfrm>
          <a:prstGeom prst="rect">
            <a:avLst/>
          </a:prstGeom>
        </p:spPr>
      </p:pic>
    </p:spTree>
    <p:extLst>
      <p:ext uri="{BB962C8B-B14F-4D97-AF65-F5344CB8AC3E}">
        <p14:creationId xmlns:p14="http://schemas.microsoft.com/office/powerpoint/2010/main" val="4216784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76D0-03F8-4665-2104-A29AEF776D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475D16-A457-D940-885F-37FF2BA26E50}"/>
              </a:ext>
            </a:extLst>
          </p:cNvPr>
          <p:cNvPicPr>
            <a:picLocks noChangeAspect="1"/>
          </p:cNvPicPr>
          <p:nvPr/>
        </p:nvPicPr>
        <p:blipFill>
          <a:blip r:embed="rId2"/>
          <a:stretch>
            <a:fillRect/>
          </a:stretch>
        </p:blipFill>
        <p:spPr>
          <a:xfrm>
            <a:off x="9150" y="0"/>
            <a:ext cx="12173699" cy="6858000"/>
          </a:xfrm>
          <a:prstGeom prst="rect">
            <a:avLst/>
          </a:prstGeom>
        </p:spPr>
      </p:pic>
    </p:spTree>
    <p:extLst>
      <p:ext uri="{BB962C8B-B14F-4D97-AF65-F5344CB8AC3E}">
        <p14:creationId xmlns:p14="http://schemas.microsoft.com/office/powerpoint/2010/main" val="4127796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A076-284D-6735-FA05-DE98F5E9C1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3A3D7CA-A15D-57E0-F51D-87DA462C742C}"/>
              </a:ext>
            </a:extLst>
          </p:cNvPr>
          <p:cNvPicPr>
            <a:picLocks noChangeAspect="1"/>
          </p:cNvPicPr>
          <p:nvPr/>
        </p:nvPicPr>
        <p:blipFill>
          <a:blip r:embed="rId2"/>
          <a:stretch>
            <a:fillRect/>
          </a:stretch>
        </p:blipFill>
        <p:spPr>
          <a:xfrm>
            <a:off x="0" y="7012"/>
            <a:ext cx="12192000" cy="6843975"/>
          </a:xfrm>
          <a:prstGeom prst="rect">
            <a:avLst/>
          </a:prstGeom>
        </p:spPr>
      </p:pic>
    </p:spTree>
    <p:extLst>
      <p:ext uri="{BB962C8B-B14F-4D97-AF65-F5344CB8AC3E}">
        <p14:creationId xmlns:p14="http://schemas.microsoft.com/office/powerpoint/2010/main" val="1807456137"/>
      </p:ext>
    </p:extLst>
  </p:cSld>
  <p:clrMapOvr>
    <a:masterClrMapping/>
  </p:clrMapOvr>
</p:sld>
</file>

<file path=ppt/theme/theme1.xml><?xml version="1.0" encoding="utf-8"?>
<a:theme xmlns:a="http://schemas.openxmlformats.org/drawingml/2006/main" name="Ticket Triage Slides">
  <a:themeElements>
    <a:clrScheme name="Ticket Triage Slides">
      <a:dk1>
        <a:srgbClr val="13202E"/>
      </a:dk1>
      <a:lt1>
        <a:srgbClr val="F6F5F1"/>
      </a:lt1>
      <a:dk2>
        <a:srgbClr val="4C555F"/>
      </a:dk2>
      <a:lt2>
        <a:srgbClr val="DFE0DE"/>
      </a:lt2>
      <a:accent1>
        <a:srgbClr val="00775F"/>
      </a:accent1>
      <a:accent2>
        <a:srgbClr val="4FD1B0"/>
      </a:accent2>
      <a:accent3>
        <a:srgbClr val="F5B971"/>
      </a:accent3>
      <a:accent4>
        <a:srgbClr val="B45309"/>
      </a:accent4>
      <a:accent5>
        <a:srgbClr val="4A5563"/>
      </a:accent5>
      <a:accent6>
        <a:srgbClr val="6B7480"/>
      </a:accent6>
      <a:hlink>
        <a:srgbClr val="0563C1"/>
      </a:hlink>
      <a:folHlink>
        <a:srgbClr val="954F72"/>
      </a:folHlink>
    </a:clrScheme>
    <a:fontScheme name="Ticket Triage Slid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1558</Words>
  <Application>Microsoft Office PowerPoint</Application>
  <PresentationFormat>Widescreen</PresentationFormat>
  <Paragraphs>95</Paragraphs>
  <Slides>10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Space Grotesk</vt:lpstr>
      <vt:lpstr>Arial</vt:lpstr>
      <vt:lpstr>IBM Plex Sans</vt:lpstr>
      <vt:lpstr>Ticket Triage Slides</vt:lpstr>
      <vt:lpstr>Label every ticket, then decide whether a person should handle it</vt:lpstr>
      <vt:lpstr>A person takes the ticket only when a misroute would cost more</vt:lpstr>
      <vt:lpstr>Lower routing cost than the 15% rule, with a third fewer hand-offs</vt:lpstr>
      <vt:lpstr>Fewer tickets for people, fewer costly mistakes</vt:lpstr>
      <vt:lpstr>Holds on other languages, misses a new kind of ticket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Triage Slides</dc:title>
  <dc:subject/>
  <dc:creator/>
  <cp:lastModifiedBy>Jone Mun Ho</cp:lastModifiedBy>
  <cp:revision>3</cp:revision>
  <dcterms:created xsi:type="dcterms:W3CDTF">2026-10-01T09:40:00Z</dcterms:created>
  <dcterms:modified xsi:type="dcterms:W3CDTF">2026-10-01T09:45:52Z</dcterms:modified>
</cp:coreProperties>
</file>